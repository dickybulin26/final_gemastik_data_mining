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FD1D0"/>
                </a:solidFill>
              </a:rPr>
              <a:t>GEMASTIK Penambangan Data — Live Coding</a:t>
            </a:r>
          </a:p>
          <a:p>
            <a:r>
              <a:rPr sz="3300" b="1">
                <a:solidFill>
                  <a:srgbClr val="FFFFFF"/>
                </a:solidFill>
              </a:rPr>
              <a:t>Inovasi Klasifikasi Sentimen Hemat Biaya
berbasis Semi-Supervised Learning</a:t>
            </a:r>
          </a:p>
          <a:p>
            <a:r>
              <a:rPr sz="1700">
                <a:solidFill>
                  <a:srgbClr val="CFE2F3"/>
                </a:solidFill>
              </a:rPr>
              <a:t>300 label berbayar vs 10.633 ulasan mentah: boon atau bane bagi model?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794760"/>
            <a:ext cx="5257800" cy="233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7FD1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09728"/>
          <a:lstStyle/>
          <a:p>
            <a:pPr algn="ctr"/>
            <a:r>
              <a:rPr sz="1450" b="1">
                <a:solidFill>
                  <a:srgbClr val="7FD1D0"/>
                </a:solidFill>
              </a:rPr>
              <a:t>SDG 8 — Decent Work &amp; Economic Growth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3A3A3A"/>
                </a:solidFill>
              </a:rPr>
              <a:t>Anotasi manual mahal: 300 ulasan = kapasitas maksimum anggaran.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3A3A3A"/>
                </a:solidFill>
              </a:rPr>
              <a:t>Semi-supervised mengubah 10.633 ulasan mentah menjadi nilai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3A3A3A"/>
                </a:solidFill>
              </a:rPr>
              <a:t>tanpa menambah biaya anotasi manusia.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3A3A3A"/>
                </a:solidFill>
              </a:rPr>
              <a:t>Tim anotasi fokus pada sampel paling informatif (Active Learning).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2200" y="3794760"/>
            <a:ext cx="5257800" cy="233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F6C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09728"/>
          <a:lstStyle/>
          <a:p>
            <a:pPr algn="ctr"/>
            <a:r>
              <a:rPr sz="1450" b="1">
                <a:solidFill>
                  <a:srgbClr val="F6C75B"/>
                </a:solidFill>
              </a:rPr>
              <a:t>SDG 9 — Industry, Innovation &amp; Infrastructure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3A3A3A"/>
                </a:solidFill>
              </a:rPr>
              <a:t>Pipeline AI ringan &amp; adaptif: TF-IDF + model linier, tanpa GPU,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3A3A3A"/>
                </a:solidFill>
              </a:rPr>
              <a:t>inference &lt; 1 detik — layak dipasang di infrastruktur produksi.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3A3A3A"/>
                </a:solidFill>
              </a:rPr>
              <a:t>Seluruh eksperimen reproducible dalam satu notebook.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3A3A3A"/>
                </a:solidFill>
              </a:rPr>
              <a:t>Kejujuran ilmiah: hasil negatif pun dilaporkan apa adanya.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7B"/>
                </a:solidFill>
              </a:rPr>
              <a:t>SLIDE 2 — TEMUAN EKSPLORASI DATA</a:t>
            </a:r>
          </a:p>
          <a:p>
            <a:r>
              <a:rPr sz="2900" b="1">
                <a:solidFill>
                  <a:srgbClr val="0B2E59"/>
                </a:solidFill>
              </a:rPr>
              <a:t>Ketimpangan Kelas Ekstrem &amp; Jurang OOV 70,49%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37360"/>
          <a:ext cx="5212079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624"/>
                <a:gridCol w="1042416"/>
                <a:gridCol w="1250899"/>
                <a:gridCol w="13551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Kelas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Jumlah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Proporsi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Per fold latih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</a:rPr>
                        <a:t>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</a:rPr>
                        <a:t>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</a:rPr>
                        <a:t>58,33%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</a:rPr>
                        <a:t>±140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</a:rPr>
                        <a:t>negative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</a:rPr>
                        <a:t>94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</a:rPr>
                        <a:t>31,33%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</a:rPr>
                        <a:t>±75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</a:rPr>
                        <a:t>neutral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</a:rPr>
                        <a:t>10,33%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</a:rPr>
                        <a:t>±25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461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A3A3A"/>
                </a:solidFill>
              </a:rPr>
              <a:t>• Ketimpangan ekstrem: 58% positif vs 10% netral.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A3A3A"/>
                </a:solidFill>
              </a:rPr>
              <a:t>• Akurasi = metrik menyesatkan (tebak mayoritas = 58%).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A3A3A"/>
                </a:solidFill>
              </a:rPr>
              <a:t>• Maka kami memakai Macro-F1 (bobot setara per kelas).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A3A3A"/>
                </a:solidFill>
              </a:rPr>
              <a:t>• Risiko semi-supervised: confirmation bias mematikan netral.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737360"/>
            <a:ext cx="5303520" cy="2240280"/>
          </a:xfrm>
          <a:prstGeom prst="rect">
            <a:avLst/>
          </a:prstGeom>
          <a:solidFill>
            <a:srgbClr val="FFFFFF"/>
          </a:solidFill>
          <a:ln w="15875">
            <a:solidFill>
              <a:srgbClr val="C14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09728"/>
          <a:lstStyle/>
          <a:p>
            <a:pPr algn="ctr"/>
            <a:r>
              <a:rPr sz="1450" b="1">
                <a:solidFill>
                  <a:srgbClr val="C1484B"/>
                </a:solidFill>
              </a:rPr>
              <a:t>Temuan 2: Jurang Out-of-Vocabulary (OOV)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70,49% jenis kata pada data uji tidak ada di 300 data latih.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Ditambah 10.633 data tanpa label: OOV anjlok ke 18,15%.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Model supervised murni 'buta leksikal' pada 7 dari 10 kata uji.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→ Bukti empiris mutlak nilai data tanpa label.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4114800"/>
            <a:ext cx="530352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B2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09728"/>
          <a:lstStyle/>
          <a:p>
            <a:pPr algn="ctr"/>
            <a:r>
              <a:rPr sz="1450" b="1">
                <a:solidFill>
                  <a:srgbClr val="0B2E59"/>
                </a:solidFill>
              </a:rPr>
              <a:t>Karakteristik Teks (ketiga set seragam)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Multi-domain: kuliner, transportasi, politik/pilpres.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Slang &amp; singkatan: bgt, ga, gak, sy, yg, nya, banget.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Panjang rata-rata ±29 kata di labeled/unlabeled/test.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7B"/>
                </a:solidFill>
              </a:rPr>
              <a:t>SLIDE 3 — METODOLOGI</a:t>
            </a:r>
          </a:p>
          <a:p>
            <a:r>
              <a:rPr sz="2900" b="1">
                <a:solidFill>
                  <a:srgbClr val="0B2E59"/>
                </a:solidFill>
              </a:rPr>
              <a:t>Arsitektur Semi-Supervised &amp; Pencegahan Confirmation Bias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91640"/>
            <a:ext cx="361188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09728"/>
          <a:lstStyle/>
          <a:p>
            <a:pPr algn="ctr"/>
            <a:r>
              <a:rPr sz="1450" b="1">
                <a:solidFill>
                  <a:srgbClr val="0E7C7B"/>
                </a:solidFill>
              </a:rPr>
              <a:t>Pilar 1 — Representasi Fitur Transductive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TF-IDF gabungan Word (1,2) + Char (3,5).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Word n-gram: frasa sentimen majemuk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("tidak enak", "sangat bagus").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Char n-gram: subkata untuk slang &amp;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typo (bgt / banget / gak).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Kosakata di-fit pada latih + unlabeled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(±110 rb fitur); TANPA menyentuh label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dan TANPA validation fold (bebas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leakage). Data uji tidak dipakai.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1691640"/>
            <a:ext cx="361188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B2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09728"/>
          <a:lstStyle/>
          <a:p>
            <a:pPr algn="ctr"/>
            <a:r>
              <a:rPr sz="1450" b="1">
                <a:solidFill>
                  <a:srgbClr val="0B2E59"/>
                </a:solidFill>
              </a:rPr>
              <a:t>Pilar 2 — Teacher &amp; Classifier Terkalibrasi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Teacher (pembangkit pseudo-label) =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Calibrated LinearSVC: probabilitas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terkalibrasi (Platt scaling), jadi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ambang tau bermakna.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Soft voting ensemble JUSTRU meredam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probabilitas (maks ±0,70) sehingga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threshold tinggi menyerap nol sampel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- terbukti saat diuji.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Cepat &amp; ringan: tanpa GPU, OOM nol.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691640"/>
            <a:ext cx="361188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09728"/>
          <a:lstStyle/>
          <a:p>
            <a:pPr algn="ctr"/>
            <a:r>
              <a:rPr sz="1450" b="1">
                <a:solidFill>
                  <a:srgbClr val="0E7C7B"/>
                </a:solidFill>
              </a:rPr>
              <a:t>Pilar 3 — Class-Balanced Pseudo-Labeling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Kuota Top-K per kelas, bukan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threshold global (anti-monopoli).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Ambang keyakinan minimum tau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ditetapkan dari sebaran empiris.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Sample weight pseudo = 0,1 (sengaja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kecil) agar data asli tetap dominan.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Hasil: hanya 200 pseudo-label (1,9%)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tersaring - disaring ketat, bukan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membanjiri data asli.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7B"/>
                </a:solidFill>
              </a:rPr>
              <a:t>SLIDE 4 — HASIL &amp; KETERBATASAN</a:t>
            </a:r>
          </a:p>
          <a:p>
            <a:r>
              <a:rPr sz="2900" b="1">
                <a:solidFill>
                  <a:srgbClr val="0B2E59"/>
                </a:solidFill>
              </a:rPr>
              <a:t>Komparasi Macro-F1 (Stratified 5-Fold CV) &amp; Diagnostik Pseudo-Label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645920"/>
          <a:ext cx="11155678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2708"/>
                <a:gridCol w="2301965"/>
                <a:gridCol w="1682205"/>
                <a:gridCol w="309880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Pendekatan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Macro-F1 (mean ± std)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Δ vs baseline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Catatan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</a:rPr>
                        <a:t>Dummy (tebak mayoritas)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0,2456 ± 0,0000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bukti akurasi = metrik menyesatkan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</a:rPr>
                        <a:t>Supervised-only (TF-IDF 9 rb fitur)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0.6186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hanya 300 label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</a:rPr>
                        <a:t>Transductive TF-IDF (110 rb fitur)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0.6476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+0.0290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hanya ganti kosakata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</a:rPr>
                        <a:t>Self-training NAIF (top-20% global)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0.6278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-0.0188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confirmation bias terbukti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</a:rPr>
                        <a:t>CB-PL final (tau=0,85, K=100, w=0,1)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0.7573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+0.1007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</a:rPr>
                        <a:t>menang di 5/5 fold, p=0,022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429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3A3A3A"/>
                </a:solidFill>
              </a:rPr>
              <a:t>• Model final: teacher &amp; classifier = Calibrated LinearSVC (τ=0,85, K=100/kelas, bobot w=0,1). Pseudo-label hanya 200 dari 10.633 (1,9%) — disaring ketat, bukan membanjiri data asli.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977639"/>
            <a:ext cx="553212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09728"/>
          <a:lstStyle/>
          <a:p>
            <a:pPr algn="ctr"/>
            <a:r>
              <a:rPr sz="1450" b="1">
                <a:solidFill>
                  <a:srgbClr val="0E7C7B"/>
                </a:solidFill>
              </a:rPr>
              <a:t>Diagnostik pseudo-label (audit kuantitatif)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Jumlah pseudo-label tersaring : 200 per lipatan (≈1,88% dari 10.633).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Distribusi kelas: pos 50,0% / neg 50,0% / neu 0,0%.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Threshold global (naif) menghasilkan pseudo-label &gt;90% positif.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Threshold + kuota Top-K per kelas membuang pseudo-label berisiko.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3977639"/>
            <a:ext cx="548640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14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09728"/>
          <a:lstStyle/>
          <a:p>
            <a:pPr algn="ctr"/>
            <a:r>
              <a:rPr sz="1450" b="1">
                <a:solidFill>
                  <a:srgbClr val="C1484B"/>
                </a:solidFill>
              </a:rPr>
              <a:t>Keterbatasan (jujur &amp; terbuka)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Hanya 300 label: selisih CV sulit signifikan statistik (p&gt;0,05).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Seleksi hyperparameter pada CV yang sama → risiko optimistic.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Ulasan sarkastik &amp; politik ambigu tetap rentan salah kelas.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A3A3A"/>
                </a:solidFill>
              </a:rPr>
              <a:t>Kelas netral sulit dipseudo-label: keyakinan model rendah.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7B"/>
                </a:solidFill>
              </a:rPr>
              <a:t>SLIDE 5 — REKOMENDASI BISNIS</a:t>
            </a:r>
          </a:p>
          <a:p>
            <a:r>
              <a:rPr sz="2900" b="1">
                <a:solidFill>
                  <a:srgbClr val="0B2E59"/>
                </a:solidFill>
              </a:rPr>
              <a:t>Strategi Alokasi Anggaran 300 Label Berikutnya (Active Learning)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91640"/>
            <a:ext cx="3611880" cy="4526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09728"/>
          <a:lstStyle/>
          <a:p>
            <a:pPr algn="ctr"/>
            <a:r>
              <a:rPr sz="1450" b="1">
                <a:solidFill>
                  <a:srgbClr val="0E7C7B"/>
                </a:solidFill>
              </a:rPr>
              <a:t>Rekomendasi Implementasi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Adopsi pipeline semi-supervised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hybrid ini sebagai penyaring opini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otomatis skala 10rb+ ulasan.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Nilai bisnis: biaya per ulasan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teranalisis turun drastis tanpa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menambah tim anotasi (SDG 8),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sekaligus memperluas cakupan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leksikal industri (SDG 9).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1691640"/>
            <a:ext cx="3611880" cy="4526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B2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09728"/>
          <a:lstStyle/>
          <a:p>
            <a:pPr algn="ctr"/>
            <a:r>
              <a:rPr sz="1450" b="1">
                <a:solidFill>
                  <a:srgbClr val="0B2E59"/>
                </a:solidFill>
              </a:rPr>
              <a:t>Strategi 300 Label Tambahan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1. Uncertainty / Margin Sampling: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   labeli ulasan dengan probabilitas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   paling ambigu antar kelas.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2. Minority-Class Boosting: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   prioritaskan ulasan netral (kini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   hanya 31 sampel).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3. Diversity Sampling: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   clustering K-Means pada ruang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   TF-IDF untuk jangkauan topik baru.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691640"/>
            <a:ext cx="3611880" cy="4526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6C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09728"/>
          <a:lstStyle/>
          <a:p>
            <a:pPr algn="ctr"/>
            <a:r>
              <a:rPr sz="1450" b="1">
                <a:solidFill>
                  <a:srgbClr val="F6C75B"/>
                </a:solidFill>
              </a:rPr>
              <a:t>Pertanyaan Juri — Jawaban Kunci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Mengapa Macro-F1? Karena akurasi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menipu pada data 58% positif.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Risiko semi-supervised? Confirmation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bias — dibuktikan lewat eksperimen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naif di slide 4, lalu dimitigasi kuota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per kelas + bobot 0,2 + audit CV.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300 label lagi? Active Learning, bukan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A3A3A"/>
                </a:solidFill>
              </a:rPr>
              <a:t>random sampling (lihat kiri).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