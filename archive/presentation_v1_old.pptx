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pagi Dewan Juri. Kami mempresentasikan solusi klasifikasi sentimen hemat biaya. Platform kami menghadapi realitas bisnis nyata: anggaran hanya cukup untuk 300 label, sementara ada 10.633 ulasan mentah. Pertanyaan krusialnya: apakah data tanpa label ini menjadi aset berharga atau justru racun? Solusi kami menjawab tantangan ini dengan selaras pada SDG 8 dan SDG 9 melalui inovasi Class-Balanced Pseudo-Labeling.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Dari eksplorasi data, ada 2 temuan kritis yang mendikte arsitektur kami. Pertama, ketimpangan kelas yang tajam: kelas netral hanya 10.3%. Ini alasan mutlak kami memakai Macro-F1. Kedua, jurang kosakata atau OOV Rate mencapai 70.49% jika hanya memakai 300 label! Saat korpus tanpa label digabungkan, OOV langsung turun drastis ke 18.15%. Ini bukti empiris terkuat perlunya semi-supervised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Metodologi kami bertumpu pada Tiga Pilar. Pilar 1: Transductive TF-IDF menggabungkan word dan char n-gram untuk mengatasi slang dan memotong OOV. Pilar 2: Ensemble seimbang antara Complement Naive Bayes, LinearSVC terkalibrasi, dan Logistic Regression. Pilar 3 inovasi utama kami: Class-Balanced Pseudo-Labeling dengan kuota Top-K per kelas dan sample weighting w=0.5, menjamin kelas netral tidak punah akibat bias konfirmasi.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Mari kita lihat buktinya secara jujur. Baseline Logistic Regression hanya memperoleh Macro-F1 0.5895. Self-training naif gagal karena confirmation bias: ulasan netral diabaikan sama sekali. Namun dengan Class-Balanced Pseudo-Labeling Top-100 per kelas, Macro-F1 melonjak drastis ke 0.7426, naik lebih dari 15% secara konsisten di seluruh 5 fold! Prediksi 1.246 data uji telah tersimpan di submission.csv dan 100% valid.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Sebagai penutup, jika ada anggaran untuk 300 label lagi, kami TIDAK AKAN mengambil data secara acak. Kami menerapkan Active Learning: 150 sampel untuk Uncertainty Sampling di margin batas keputusan, 100 sampel untuk Minority Boosting kelas netral, dan 50 sampel untuk Diversity Sampling klaster topik baru. Dengan strategi ini, setiap rupiah anggaran anotasi menghasilkan lompatan nilai bisnis maksimal.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0EA58A"/>
                </a:solidFill>
              </a:defRPr>
            </a:pPr>
            <a:r>
              <a:t>SLIDE 1/5 | FINAL GEMASTIK - PENAMBANGAN DATA</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Inovasi Klasifikasi Sentimen Hemat Biaya Berbasis Semi-Supervised Learning</a:t>
            </a:r>
          </a:p>
          <a:p>
            <a:pPr>
              <a:defRPr sz="1300">
                <a:solidFill>
                  <a:srgbClr val="94A3B8"/>
                </a:solidFill>
              </a:defRPr>
            </a:pPr>
            <a:r>
              <a:t>Tema: Inovasi yang Hemat Biaya (Cost-Effective Innovation) berakar pada SDG 8 &amp; SDG 9</a:t>
            </a:r>
          </a:p>
        </p:txBody>
      </p:sp>
      <p:sp>
        <p:nvSpPr>
          <p:cNvPr id="5" name="Rounded Rectangle 4"/>
          <p:cNvSpPr/>
          <p:nvPr/>
        </p:nvSpPr>
        <p:spPr>
          <a:xfrm>
            <a:off x="731520" y="1554480"/>
            <a:ext cx="24688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2468880" cy="731520"/>
          </a:xfrm>
          <a:prstGeom prst="rect">
            <a:avLst/>
          </a:prstGeom>
          <a:noFill/>
        </p:spPr>
        <p:txBody>
          <a:bodyPr wrap="square">
            <a:spAutoFit/>
          </a:bodyPr>
          <a:lstStyle/>
          <a:p>
            <a:pPr algn="ctr">
              <a:defRPr sz="2200" b="1">
                <a:solidFill>
                  <a:srgbClr val="F59E0B"/>
                </a:solidFill>
              </a:defRPr>
            </a:pPr>
            <a:r>
              <a:t>300 Label</a:t>
            </a:r>
          </a:p>
          <a:p>
            <a:pPr algn="ctr">
              <a:defRPr sz="1100">
                <a:solidFill>
                  <a:srgbClr val="94A3B8"/>
                </a:solidFill>
              </a:defRPr>
            </a:pPr>
            <a:r>
              <a:t>Data Latih Berlabel Asli</a:t>
            </a:r>
          </a:p>
        </p:txBody>
      </p:sp>
      <p:sp>
        <p:nvSpPr>
          <p:cNvPr id="7" name="Rounded Rectangle 6"/>
          <p:cNvSpPr/>
          <p:nvPr/>
        </p:nvSpPr>
        <p:spPr>
          <a:xfrm>
            <a:off x="3474720" y="1554480"/>
            <a:ext cx="24688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74720" y="1645920"/>
            <a:ext cx="2468880" cy="731520"/>
          </a:xfrm>
          <a:prstGeom prst="rect">
            <a:avLst/>
          </a:prstGeom>
          <a:noFill/>
        </p:spPr>
        <p:txBody>
          <a:bodyPr wrap="square">
            <a:spAutoFit/>
          </a:bodyPr>
          <a:lstStyle/>
          <a:p>
            <a:pPr algn="ctr">
              <a:defRPr sz="2200" b="1">
                <a:solidFill>
                  <a:srgbClr val="3B82F6"/>
                </a:solidFill>
              </a:defRPr>
            </a:pPr>
            <a:r>
              <a:t>10.633 Data</a:t>
            </a:r>
          </a:p>
          <a:p>
            <a:pPr algn="ctr">
              <a:defRPr sz="1100">
                <a:solidFill>
                  <a:srgbClr val="94A3B8"/>
                </a:solidFill>
              </a:defRPr>
            </a:pPr>
            <a:r>
              <a:t>Data Mentah Tanpa Label</a:t>
            </a:r>
          </a:p>
        </p:txBody>
      </p:sp>
      <p:sp>
        <p:nvSpPr>
          <p:cNvPr id="9" name="Rounded Rectangle 8"/>
          <p:cNvSpPr/>
          <p:nvPr/>
        </p:nvSpPr>
        <p:spPr>
          <a:xfrm>
            <a:off x="6217920" y="1554480"/>
            <a:ext cx="24688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645920"/>
            <a:ext cx="2468880" cy="731520"/>
          </a:xfrm>
          <a:prstGeom prst="rect">
            <a:avLst/>
          </a:prstGeom>
          <a:noFill/>
        </p:spPr>
        <p:txBody>
          <a:bodyPr wrap="square">
            <a:spAutoFit/>
          </a:bodyPr>
          <a:lstStyle/>
          <a:p>
            <a:pPr algn="ctr">
              <a:defRPr sz="2200" b="1">
                <a:solidFill>
                  <a:srgbClr val="0EA58A"/>
                </a:solidFill>
              </a:defRPr>
            </a:pPr>
            <a:r>
              <a:t>1.246 Data</a:t>
            </a:r>
          </a:p>
          <a:p>
            <a:pPr algn="ctr">
              <a:defRPr sz="1100">
                <a:solidFill>
                  <a:srgbClr val="94A3B8"/>
                </a:solidFill>
              </a:defRPr>
            </a:pPr>
            <a:r>
              <a:t>Data Evaluasi Uji (Test)</a:t>
            </a:r>
          </a:p>
        </p:txBody>
      </p:sp>
      <p:sp>
        <p:nvSpPr>
          <p:cNvPr id="11" name="Rounded Rectangle 10"/>
          <p:cNvSpPr/>
          <p:nvPr/>
        </p:nvSpPr>
        <p:spPr>
          <a:xfrm>
            <a:off x="8961120" y="1554480"/>
            <a:ext cx="24688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0" y="1645920"/>
            <a:ext cx="2468880" cy="731520"/>
          </a:xfrm>
          <a:prstGeom prst="rect">
            <a:avLst/>
          </a:prstGeom>
          <a:noFill/>
        </p:spPr>
        <p:txBody>
          <a:bodyPr wrap="square">
            <a:spAutoFit/>
          </a:bodyPr>
          <a:lstStyle/>
          <a:p>
            <a:pPr algn="ctr">
              <a:defRPr sz="2200" b="1">
                <a:solidFill>
                  <a:srgbClr val="0EA58A"/>
                </a:solidFill>
              </a:defRPr>
            </a:pPr>
            <a:r>
              <a:t>Macro-F1</a:t>
            </a:r>
          </a:p>
          <a:p>
            <a:pPr algn="ctr">
              <a:defRPr sz="1100">
                <a:solidFill>
                  <a:srgbClr val="94A3B8"/>
                </a:solidFill>
              </a:defRPr>
            </a:pPr>
            <a:r>
              <a:t>Metrik Evaluasi Utama</a:t>
            </a:r>
          </a:p>
        </p:txBody>
      </p:sp>
      <p:sp>
        <p:nvSpPr>
          <p:cNvPr id="13" name="Rounded Rectangle 12"/>
          <p:cNvSpPr/>
          <p:nvPr/>
        </p:nvSpPr>
        <p:spPr>
          <a:xfrm>
            <a:off x="731520" y="2651760"/>
            <a:ext cx="5212080" cy="3749039"/>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88920"/>
            <a:ext cx="4846320" cy="3474720"/>
          </a:xfrm>
          <a:prstGeom prst="rect">
            <a:avLst/>
          </a:prstGeom>
          <a:noFill/>
        </p:spPr>
        <p:txBody>
          <a:bodyPr wrap="square">
            <a:spAutoFit/>
          </a:bodyPr>
          <a:lstStyle/>
          <a:p>
            <a:pPr>
              <a:spcAft>
                <a:spcPts val="800"/>
              </a:spcAft>
              <a:defRPr sz="1500" b="1">
                <a:solidFill>
                  <a:srgbClr val="F59E0B"/>
                </a:solidFill>
              </a:defRPr>
            </a:pPr>
            <a:r>
              <a:t>Latar Belakang &amp; Masalah Bisnis</a:t>
            </a:r>
          </a:p>
          <a:p>
            <a:pPr>
              <a:spcAft>
                <a:spcPts val="600"/>
              </a:spcAft>
              <a:defRPr sz="1200">
                <a:solidFill>
                  <a:srgbClr val="94A3B8"/>
                </a:solidFill>
              </a:defRPr>
            </a:pPr>
            <a:r>
              <a:t>•  Keterbatasan Anggaran: Platform ulasan hanya mampu menganotasi 300 ulasan manual dari puluhan ribu data.</a:t>
            </a:r>
          </a:p>
          <a:p>
            <a:pPr>
              <a:spcAft>
                <a:spcPts val="600"/>
              </a:spcAft>
              <a:defRPr sz="1200">
                <a:solidFill>
                  <a:srgbClr val="94A3B8"/>
                </a:solidFill>
              </a:defRPr>
            </a:pPr>
            <a:r>
              <a:t>•  Pertanyaan Inti Penguji: Apakah pemanfaatan 10.633 data tanpa label benar-benar menguntungkan (boon) atau justru merugikan (bane) akibat noise &amp; confirmation bias?</a:t>
            </a:r>
          </a:p>
          <a:p>
            <a:pPr>
              <a:spcAft>
                <a:spcPts val="600"/>
              </a:spcAft>
              <a:defRPr sz="1200">
                <a:solidFill>
                  <a:srgbClr val="94A3B8"/>
                </a:solidFill>
              </a:defRPr>
            </a:pPr>
            <a:r>
              <a:t>•  Solusi Kami: Mengembangkan pipeline Class-Balanced Pseudo-Labeling (CB-PL) terkalibrasi dengan komputasi kilat (&lt; 30 detik).</a:t>
            </a:r>
          </a:p>
        </p:txBody>
      </p:sp>
      <p:sp>
        <p:nvSpPr>
          <p:cNvPr id="15" name="Rounded Rectangle 14"/>
          <p:cNvSpPr/>
          <p:nvPr/>
        </p:nvSpPr>
        <p:spPr>
          <a:xfrm>
            <a:off x="6217920" y="2651760"/>
            <a:ext cx="5212080" cy="3749039"/>
          </a:xfrm>
          <a:prstGeom prst="roundRect">
            <a:avLst/>
          </a:prstGeom>
          <a:solidFill>
            <a:srgbClr val="1E293B"/>
          </a:solidFill>
          <a:ln w="19050">
            <a:solidFill>
              <a:srgbClr val="0EA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788920"/>
            <a:ext cx="4846320" cy="3474720"/>
          </a:xfrm>
          <a:prstGeom prst="rect">
            <a:avLst/>
          </a:prstGeom>
          <a:noFill/>
        </p:spPr>
        <p:txBody>
          <a:bodyPr wrap="square">
            <a:spAutoFit/>
          </a:bodyPr>
          <a:lstStyle/>
          <a:p>
            <a:pPr>
              <a:spcAft>
                <a:spcPts val="800"/>
              </a:spcAft>
              <a:defRPr sz="1500" b="1">
                <a:solidFill>
                  <a:srgbClr val="0EA58A"/>
                </a:solidFill>
              </a:defRPr>
            </a:pPr>
            <a:r>
              <a:t>Dampak &amp; Keselarasan Tema SDG</a:t>
            </a:r>
          </a:p>
          <a:p>
            <a:pPr>
              <a:spcAft>
                <a:spcPts val="600"/>
              </a:spcAft>
              <a:defRPr sz="1200">
                <a:solidFill>
                  <a:srgbClr val="94A3B8"/>
                </a:solidFill>
              </a:defRPr>
            </a:pPr>
            <a:r>
              <a:t>•  SDG 8 (Decent Work &amp; Economic Growth): Efisiensi biaya tenaga kerja &amp; optimasi beban kerja tim anotasi manusia; fokuskan anggaran manual hanya pada sampel bernilai informasi tinggi.</a:t>
            </a:r>
          </a:p>
          <a:p>
            <a:pPr>
              <a:spcAft>
                <a:spcPts val="600"/>
              </a:spcAft>
              <a:defRPr sz="1200">
                <a:solidFill>
                  <a:srgbClr val="94A3B8"/>
                </a:solidFill>
              </a:defRPr>
            </a:pPr>
            <a:r>
              <a:t>•  SDG 9 (Industry, Innovation &amp; Infrastructure): Infrastruktur kecerdasan buatan adaptif yang mampu mengubah data mentah skala besar menjadi inteligensi bisnis bernilai tinggi.</a:t>
            </a:r>
          </a:p>
          <a:p>
            <a:pPr>
              <a:spcAft>
                <a:spcPts val="600"/>
              </a:spcAft>
              <a:defRPr sz="1200">
                <a:solidFill>
                  <a:srgbClr val="94A3B8"/>
                </a:solidFill>
              </a:defRPr>
            </a:pPr>
            <a:r>
              <a:t>•  Cost-Effective ML: Menghasilkan akurasi tinggi tanpa perlu anggaran jutaan rupiah untuk pelabelan manual penuh.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0EA58A"/>
                </a:solidFill>
              </a:defRPr>
            </a:pPr>
            <a:r>
              <a:t>SLIDE 2/5 | FINAL GEMASTIK - PENAMBANGAN DATA</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Dua Temuan Kritis Eksplorasi Data yang Membentuk Solusi</a:t>
            </a:r>
          </a:p>
          <a:p>
            <a:pPr>
              <a:defRPr sz="1300">
                <a:solidFill>
                  <a:srgbClr val="94A3B8"/>
                </a:solidFill>
              </a:defRPr>
            </a:pPr>
            <a:r>
              <a:t>Severe Class Imbalance &amp; Jurang Out-of-Vocabulary (OOV) 70.49%</a:t>
            </a:r>
          </a:p>
        </p:txBody>
      </p:sp>
      <p:sp>
        <p:nvSpPr>
          <p:cNvPr id="5" name="Rounded Rectangle 4"/>
          <p:cNvSpPr/>
          <p:nvPr/>
        </p:nvSpPr>
        <p:spPr>
          <a:xfrm>
            <a:off x="7315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3383280" cy="731520"/>
          </a:xfrm>
          <a:prstGeom prst="rect">
            <a:avLst/>
          </a:prstGeom>
          <a:noFill/>
        </p:spPr>
        <p:txBody>
          <a:bodyPr wrap="square">
            <a:spAutoFit/>
          </a:bodyPr>
          <a:lstStyle/>
          <a:p>
            <a:pPr algn="ctr">
              <a:defRPr sz="2200" b="1">
                <a:solidFill>
                  <a:srgbClr val="F59E0B"/>
                </a:solidFill>
              </a:defRPr>
            </a:pPr>
            <a:r>
              <a:t>58.3% / 31.3% / 10.3%</a:t>
            </a:r>
          </a:p>
          <a:p>
            <a:pPr algn="ctr">
              <a:defRPr sz="1100">
                <a:solidFill>
                  <a:srgbClr val="94A3B8"/>
                </a:solidFill>
              </a:defRPr>
            </a:pPr>
            <a:r>
              <a:t>Rasio Positif / Negatif / Netral</a:t>
            </a:r>
          </a:p>
        </p:txBody>
      </p:sp>
      <p:sp>
        <p:nvSpPr>
          <p:cNvPr id="7" name="Rounded Rectangle 6"/>
          <p:cNvSpPr/>
          <p:nvPr/>
        </p:nvSpPr>
        <p:spPr>
          <a:xfrm>
            <a:off x="43891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645920"/>
            <a:ext cx="3383280" cy="731520"/>
          </a:xfrm>
          <a:prstGeom prst="rect">
            <a:avLst/>
          </a:prstGeom>
          <a:noFill/>
        </p:spPr>
        <p:txBody>
          <a:bodyPr wrap="square">
            <a:spAutoFit/>
          </a:bodyPr>
          <a:lstStyle/>
          <a:p>
            <a:pPr algn="ctr">
              <a:defRPr sz="2200" b="1">
                <a:solidFill>
                  <a:srgbClr val="0EA58A"/>
                </a:solidFill>
              </a:defRPr>
            </a:pPr>
            <a:r>
              <a:t>70.49% → 18.15%</a:t>
            </a:r>
          </a:p>
          <a:p>
            <a:pPr algn="ctr">
              <a:defRPr sz="1100">
                <a:solidFill>
                  <a:srgbClr val="94A3B8"/>
                </a:solidFill>
              </a:defRPr>
            </a:pPr>
            <a:r>
              <a:t>Penurunan Masif OOV Rate</a:t>
            </a:r>
          </a:p>
        </p:txBody>
      </p:sp>
      <p:sp>
        <p:nvSpPr>
          <p:cNvPr id="9" name="Rounded Rectangle 8"/>
          <p:cNvSpPr/>
          <p:nvPr/>
        </p:nvSpPr>
        <p:spPr>
          <a:xfrm>
            <a:off x="80467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645920"/>
            <a:ext cx="3383280" cy="731520"/>
          </a:xfrm>
          <a:prstGeom prst="rect">
            <a:avLst/>
          </a:prstGeom>
          <a:noFill/>
        </p:spPr>
        <p:txBody>
          <a:bodyPr wrap="square">
            <a:spAutoFit/>
          </a:bodyPr>
          <a:lstStyle/>
          <a:p>
            <a:pPr algn="ctr">
              <a:defRPr sz="2200" b="1">
                <a:solidFill>
                  <a:srgbClr val="3B82F6"/>
                </a:solidFill>
              </a:defRPr>
            </a:pPr>
            <a:r>
              <a:t>~33 Kata / Teks</a:t>
            </a:r>
          </a:p>
          <a:p>
            <a:pPr algn="ctr">
              <a:defRPr sz="1100">
                <a:solidFill>
                  <a:srgbClr val="94A3B8"/>
                </a:solidFill>
              </a:defRPr>
            </a:pPr>
            <a:r>
              <a:t>Konsistensi Panjang Ulasan</a:t>
            </a:r>
          </a:p>
        </p:txBody>
      </p:sp>
      <p:sp>
        <p:nvSpPr>
          <p:cNvPr id="11" name="Rounded Rectangle 10"/>
          <p:cNvSpPr/>
          <p:nvPr/>
        </p:nvSpPr>
        <p:spPr>
          <a:xfrm>
            <a:off x="731520" y="2651760"/>
            <a:ext cx="5212080" cy="3749039"/>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88920"/>
            <a:ext cx="4846320" cy="3474720"/>
          </a:xfrm>
          <a:prstGeom prst="rect">
            <a:avLst/>
          </a:prstGeom>
          <a:noFill/>
        </p:spPr>
        <p:txBody>
          <a:bodyPr wrap="square">
            <a:spAutoFit/>
          </a:bodyPr>
          <a:lstStyle/>
          <a:p>
            <a:pPr>
              <a:spcAft>
                <a:spcPts val="800"/>
              </a:spcAft>
              <a:defRPr sz="1500" b="1">
                <a:solidFill>
                  <a:srgbClr val="F59E0B"/>
                </a:solidFill>
              </a:defRPr>
            </a:pPr>
            <a:r>
              <a:t>Temuan 1: Ketimpangan Kelas Ekstrem</a:t>
            </a:r>
          </a:p>
          <a:p>
            <a:pPr>
              <a:spcAft>
                <a:spcPts val="600"/>
              </a:spcAft>
              <a:defRPr sz="1200">
                <a:solidFill>
                  <a:srgbClr val="94A3B8"/>
                </a:solidFill>
              </a:defRPr>
            </a:pPr>
            <a:r>
              <a:t>•  Distribusi Labeled (300 sampel): Positive 175 (58.3%), Negative 94 (31.3%), dan Neutral hanya 31 (10.3%).</a:t>
            </a:r>
          </a:p>
          <a:p>
            <a:pPr>
              <a:spcAft>
                <a:spcPts val="600"/>
              </a:spcAft>
              <a:defRPr sz="1200">
                <a:solidFill>
                  <a:srgbClr val="94A3B8"/>
                </a:solidFill>
              </a:defRPr>
            </a:pPr>
            <a:r>
              <a:t>•  Bahaya Fatal: Hanya ada ~25 data netral per train-fold! Model standar rentan terkena Confirmation Bias dan mematikan prediksi kelas netral.</a:t>
            </a:r>
          </a:p>
          <a:p>
            <a:pPr>
              <a:spcAft>
                <a:spcPts val="600"/>
              </a:spcAft>
              <a:defRPr sz="1200">
                <a:solidFill>
                  <a:srgbClr val="94A3B8"/>
                </a:solidFill>
              </a:defRPr>
            </a:pPr>
            <a:r>
              <a:t>•  Justifikasi Metrik Macro-F1: Memberi bobot setara (33.3%) untuk tiap kelas agar model tidak bisa 'curang' hanya memprediksi mayoritas positif.</a:t>
            </a:r>
          </a:p>
        </p:txBody>
      </p:sp>
      <p:sp>
        <p:nvSpPr>
          <p:cNvPr id="13" name="Rounded Rectangle 12"/>
          <p:cNvSpPr/>
          <p:nvPr/>
        </p:nvSpPr>
        <p:spPr>
          <a:xfrm>
            <a:off x="6217920" y="2651760"/>
            <a:ext cx="5212080" cy="3749039"/>
          </a:xfrm>
          <a:prstGeom prst="roundRect">
            <a:avLst/>
          </a:prstGeom>
          <a:solidFill>
            <a:srgbClr val="1E293B"/>
          </a:solidFill>
          <a:ln w="19050">
            <a:solidFill>
              <a:srgbClr val="0EA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788920"/>
            <a:ext cx="4846320" cy="3474720"/>
          </a:xfrm>
          <a:prstGeom prst="rect">
            <a:avLst/>
          </a:prstGeom>
          <a:noFill/>
        </p:spPr>
        <p:txBody>
          <a:bodyPr wrap="square">
            <a:spAutoFit/>
          </a:bodyPr>
          <a:lstStyle/>
          <a:p>
            <a:pPr>
              <a:spcAft>
                <a:spcPts val="800"/>
              </a:spcAft>
              <a:defRPr sz="1500" b="1">
                <a:solidFill>
                  <a:srgbClr val="0EA58A"/>
                </a:solidFill>
              </a:defRPr>
            </a:pPr>
            <a:r>
              <a:t>Temuan 2: Jurang OOV Masif 70.49%</a:t>
            </a:r>
          </a:p>
          <a:p>
            <a:pPr>
              <a:spcAft>
                <a:spcPts val="600"/>
              </a:spcAft>
              <a:defRPr sz="1200">
                <a:solidFill>
                  <a:srgbClr val="94A3B8"/>
                </a:solidFill>
              </a:defRPr>
            </a:pPr>
            <a:r>
              <a:t>•  70.49% kata di data uji (test.csv) TIDAK PERNAH muncul pada 300 data berlabel (kosa kata: 2.355 vs 5.516 unik).</a:t>
            </a:r>
          </a:p>
          <a:p>
            <a:pPr>
              <a:spcAft>
                <a:spcPts val="600"/>
              </a:spcAft>
              <a:defRPr sz="1200">
                <a:solidFill>
                  <a:srgbClr val="94A3B8"/>
                </a:solidFill>
              </a:defRPr>
            </a:pPr>
            <a:r>
              <a:t>•  Ekspansi Korpus Unlabeled: Menggabungkan 10.633 data tanpa label langsung memangkas OOV Rate anjlok ke 18.15% (17.838 kata unik).</a:t>
            </a:r>
          </a:p>
          <a:p>
            <a:pPr>
              <a:spcAft>
                <a:spcPts val="600"/>
              </a:spcAft>
              <a:defRPr sz="1200">
                <a:solidFill>
                  <a:srgbClr val="94A3B8"/>
                </a:solidFill>
              </a:defRPr>
            </a:pPr>
            <a:r>
              <a:t>•  Bukti Kuantitatif: Ini membuktikan secara ilmiah bahwa pemanfaatan data tanpa label adalah keharusan mutlak untuk memperluas cakupan leksikal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0EA58A"/>
                </a:solidFill>
              </a:defRPr>
            </a:pPr>
            <a:r>
              <a:t>SLIDE 3/5 | FINAL GEMASTIK - PENAMBANGAN DATA</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Arsitektur Tiga Pilar Semi-Supervised Anti-Confirmation Bias</a:t>
            </a:r>
          </a:p>
          <a:p>
            <a:pPr>
              <a:defRPr sz="1300">
                <a:solidFill>
                  <a:srgbClr val="94A3B8"/>
                </a:solidFill>
              </a:defRPr>
            </a:pPr>
            <a:r>
              <a:t>Transductive Feature Representation · Calibrated Ensemble · Class-Balanced Pseudo-Labeling</a:t>
            </a:r>
          </a:p>
        </p:txBody>
      </p:sp>
      <p:sp>
        <p:nvSpPr>
          <p:cNvPr id="5" name="Rounded Rectangle 4"/>
          <p:cNvSpPr/>
          <p:nvPr/>
        </p:nvSpPr>
        <p:spPr>
          <a:xfrm>
            <a:off x="7315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3383280" cy="731520"/>
          </a:xfrm>
          <a:prstGeom prst="rect">
            <a:avLst/>
          </a:prstGeom>
          <a:noFill/>
        </p:spPr>
        <p:txBody>
          <a:bodyPr wrap="square">
            <a:spAutoFit/>
          </a:bodyPr>
          <a:lstStyle/>
          <a:p>
            <a:pPr algn="ctr">
              <a:defRPr sz="2200" b="1">
                <a:solidFill>
                  <a:srgbClr val="0EA58A"/>
                </a:solidFill>
              </a:defRPr>
            </a:pPr>
            <a:r>
              <a:t>Word(1,2) + Char(3,5)</a:t>
            </a:r>
          </a:p>
          <a:p>
            <a:pPr algn="ctr">
              <a:defRPr sz="1100">
                <a:solidFill>
                  <a:srgbClr val="94A3B8"/>
                </a:solidFill>
              </a:defRPr>
            </a:pPr>
            <a:r>
              <a:t>109.987 Fitur Leksikal</a:t>
            </a:r>
          </a:p>
        </p:txBody>
      </p:sp>
      <p:sp>
        <p:nvSpPr>
          <p:cNvPr id="7" name="Rounded Rectangle 6"/>
          <p:cNvSpPr/>
          <p:nvPr/>
        </p:nvSpPr>
        <p:spPr>
          <a:xfrm>
            <a:off x="43891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645920"/>
            <a:ext cx="3383280" cy="731520"/>
          </a:xfrm>
          <a:prstGeom prst="rect">
            <a:avLst/>
          </a:prstGeom>
          <a:noFill/>
        </p:spPr>
        <p:txBody>
          <a:bodyPr wrap="square">
            <a:spAutoFit/>
          </a:bodyPr>
          <a:lstStyle/>
          <a:p>
            <a:pPr algn="ctr">
              <a:defRPr sz="2200" b="1">
                <a:solidFill>
                  <a:srgbClr val="3B82F6"/>
                </a:solidFill>
              </a:defRPr>
            </a:pPr>
            <a:r>
              <a:t>Top-K per Class</a:t>
            </a:r>
          </a:p>
          <a:p>
            <a:pPr algn="ctr">
              <a:defRPr sz="1100">
                <a:solidFill>
                  <a:srgbClr val="94A3B8"/>
                </a:solidFill>
              </a:defRPr>
            </a:pPr>
            <a:r>
              <a:t>Alokasi Kuota Berimbang</a:t>
            </a:r>
          </a:p>
        </p:txBody>
      </p:sp>
      <p:sp>
        <p:nvSpPr>
          <p:cNvPr id="9" name="Rounded Rectangle 8"/>
          <p:cNvSpPr/>
          <p:nvPr/>
        </p:nvSpPr>
        <p:spPr>
          <a:xfrm>
            <a:off x="80467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645920"/>
            <a:ext cx="3383280" cy="731520"/>
          </a:xfrm>
          <a:prstGeom prst="rect">
            <a:avLst/>
          </a:prstGeom>
          <a:noFill/>
        </p:spPr>
        <p:txBody>
          <a:bodyPr wrap="square">
            <a:spAutoFit/>
          </a:bodyPr>
          <a:lstStyle/>
          <a:p>
            <a:pPr algn="ctr">
              <a:defRPr sz="2200" b="1">
                <a:solidFill>
                  <a:srgbClr val="F59E0B"/>
                </a:solidFill>
              </a:defRPr>
            </a:pPr>
            <a:r>
              <a:t>Stratified 5-Fold</a:t>
            </a:r>
          </a:p>
          <a:p>
            <a:pPr algn="ctr">
              <a:defRPr sz="1100">
                <a:solidFill>
                  <a:srgbClr val="94A3B8"/>
                </a:solidFill>
              </a:defRPr>
            </a:pPr>
            <a:r>
              <a:t>Validasi Steril Tanpa Leakage</a:t>
            </a:r>
          </a:p>
        </p:txBody>
      </p:sp>
      <p:sp>
        <p:nvSpPr>
          <p:cNvPr id="11" name="Rounded Rectangle 10"/>
          <p:cNvSpPr/>
          <p:nvPr/>
        </p:nvSpPr>
        <p:spPr>
          <a:xfrm>
            <a:off x="731520" y="2651760"/>
            <a:ext cx="3383280" cy="3749039"/>
          </a:xfrm>
          <a:prstGeom prst="roundRect">
            <a:avLst/>
          </a:prstGeom>
          <a:solidFill>
            <a:srgbClr val="1E293B"/>
          </a:solidFill>
          <a:ln w="19050">
            <a:solidFill>
              <a:srgbClr val="0EA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88920"/>
            <a:ext cx="3017520" cy="3474720"/>
          </a:xfrm>
          <a:prstGeom prst="rect">
            <a:avLst/>
          </a:prstGeom>
          <a:noFill/>
        </p:spPr>
        <p:txBody>
          <a:bodyPr wrap="square">
            <a:spAutoFit/>
          </a:bodyPr>
          <a:lstStyle/>
          <a:p>
            <a:pPr>
              <a:spcAft>
                <a:spcPts val="800"/>
              </a:spcAft>
              <a:defRPr sz="1500" b="1">
                <a:solidFill>
                  <a:srgbClr val="0EA58A"/>
                </a:solidFill>
              </a:defRPr>
            </a:pPr>
            <a:r>
              <a:t>Pilar 1: Transductive TF-IDF</a:t>
            </a:r>
          </a:p>
          <a:p>
            <a:pPr>
              <a:spcAft>
                <a:spcPts val="600"/>
              </a:spcAft>
              <a:defRPr sz="1200">
                <a:solidFill>
                  <a:srgbClr val="94A3B8"/>
                </a:solidFill>
              </a:defRPr>
            </a:pPr>
            <a:r>
              <a:t>•  FeatureUnion: Word n-gram (1,2) untuk frasa negasi/penguat + Char n-gram (3,5) untuk subkata &amp; typo/slang.</a:t>
            </a:r>
          </a:p>
          <a:p>
            <a:pPr>
              <a:spcAft>
                <a:spcPts val="600"/>
              </a:spcAft>
              <a:defRPr sz="1200">
                <a:solidFill>
                  <a:srgbClr val="94A3B8"/>
                </a:solidFill>
              </a:defRPr>
            </a:pPr>
            <a:r>
              <a:t>•  Transductive Fitting: Kosakata di-fit pada korpus (Labeled + Unlabeled: 10.933 teks) tanpa menyentuh label target.</a:t>
            </a:r>
          </a:p>
          <a:p>
            <a:pPr>
              <a:spcAft>
                <a:spcPts val="600"/>
              </a:spcAft>
              <a:defRPr sz="1200">
                <a:solidFill>
                  <a:srgbClr val="94A3B8"/>
                </a:solidFill>
              </a:defRPr>
            </a:pPr>
            <a:r>
              <a:t>•  Hasil: Mengunci OOV rate ke 18% secara efisien tanpa butuh stemmer lambat.</a:t>
            </a:r>
          </a:p>
        </p:txBody>
      </p:sp>
      <p:sp>
        <p:nvSpPr>
          <p:cNvPr id="13" name="Rounded Rectangle 12"/>
          <p:cNvSpPr/>
          <p:nvPr/>
        </p:nvSpPr>
        <p:spPr>
          <a:xfrm>
            <a:off x="4389120" y="2651760"/>
            <a:ext cx="3383280" cy="3749039"/>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788920"/>
            <a:ext cx="3017520" cy="3474720"/>
          </a:xfrm>
          <a:prstGeom prst="rect">
            <a:avLst/>
          </a:prstGeom>
          <a:noFill/>
        </p:spPr>
        <p:txBody>
          <a:bodyPr wrap="square">
            <a:spAutoFit/>
          </a:bodyPr>
          <a:lstStyle/>
          <a:p>
            <a:pPr>
              <a:spcAft>
                <a:spcPts val="800"/>
              </a:spcAft>
              <a:defRPr sz="1500" b="1">
                <a:solidFill>
                  <a:srgbClr val="3B82F6"/>
                </a:solidFill>
              </a:defRPr>
            </a:pPr>
            <a:r>
              <a:t>Pilar 2: Calibrated Ensemble</a:t>
            </a:r>
          </a:p>
          <a:p>
            <a:pPr>
              <a:spcAft>
                <a:spcPts val="600"/>
              </a:spcAft>
              <a:defRPr sz="1200">
                <a:solidFill>
                  <a:srgbClr val="94A3B8"/>
                </a:solidFill>
              </a:defRPr>
            </a:pPr>
            <a:r>
              <a:t>•  Complement Naive Bayes (CNB): Dirancang khusus untuk teks dengan sebaran timpang.</a:t>
            </a:r>
          </a:p>
          <a:p>
            <a:pPr>
              <a:spcAft>
                <a:spcPts val="600"/>
              </a:spcAft>
              <a:defRPr sz="1200">
                <a:solidFill>
                  <a:srgbClr val="94A3B8"/>
                </a:solidFill>
              </a:defRPr>
            </a:pPr>
            <a:r>
              <a:t>•  Calibrated LinearSVC: Hyperplane margin maksimal dengan kalibrasi Platt sigmoid.</a:t>
            </a:r>
          </a:p>
          <a:p>
            <a:pPr>
              <a:spcAft>
                <a:spcPts val="600"/>
              </a:spcAft>
              <a:defRPr sz="1200">
                <a:solidFill>
                  <a:srgbClr val="94A3B8"/>
                </a:solidFill>
              </a:defRPr>
            </a:pPr>
            <a:r>
              <a:t>•  Logistic Regression: Regularisasi L2 dengan class_weight='balanced'.</a:t>
            </a:r>
          </a:p>
          <a:p>
            <a:pPr>
              <a:spcAft>
                <a:spcPts val="600"/>
              </a:spcAft>
              <a:defRPr sz="1200">
                <a:solidFill>
                  <a:srgbClr val="94A3B8"/>
                </a:solidFill>
              </a:defRPr>
            </a:pPr>
            <a:r>
              <a:t>•  Soft Voting: Menstabilkan variansi prediksi posterior P(y|x).</a:t>
            </a:r>
          </a:p>
        </p:txBody>
      </p:sp>
      <p:sp>
        <p:nvSpPr>
          <p:cNvPr id="15" name="Rounded Rectangle 14"/>
          <p:cNvSpPr/>
          <p:nvPr/>
        </p:nvSpPr>
        <p:spPr>
          <a:xfrm>
            <a:off x="8046720" y="2651760"/>
            <a:ext cx="3383280" cy="3749039"/>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788920"/>
            <a:ext cx="3017520" cy="3474720"/>
          </a:xfrm>
          <a:prstGeom prst="rect">
            <a:avLst/>
          </a:prstGeom>
          <a:noFill/>
        </p:spPr>
        <p:txBody>
          <a:bodyPr wrap="square">
            <a:spAutoFit/>
          </a:bodyPr>
          <a:lstStyle/>
          <a:p>
            <a:pPr>
              <a:spcAft>
                <a:spcPts val="800"/>
              </a:spcAft>
              <a:defRPr sz="1500" b="1">
                <a:solidFill>
                  <a:srgbClr val="F59E0B"/>
                </a:solidFill>
              </a:defRPr>
            </a:pPr>
            <a:r>
              <a:t>Pilar 3: CB-PL Anti-Bias</a:t>
            </a:r>
          </a:p>
          <a:p>
            <a:pPr>
              <a:spcAft>
                <a:spcPts val="600"/>
              </a:spcAft>
              <a:defRPr sz="1200">
                <a:solidFill>
                  <a:srgbClr val="94A3B8"/>
                </a:solidFill>
              </a:defRPr>
            </a:pPr>
            <a:r>
              <a:t>•  Kuota Top-K per Kelas: Alokasi berimbang (Top-K per class) mencegah monopoli pseudo-label oleh kelas positif.</a:t>
            </a:r>
          </a:p>
          <a:p>
            <a:pPr>
              <a:spcAft>
                <a:spcPts val="600"/>
              </a:spcAft>
              <a:defRPr sz="1200">
                <a:solidFill>
                  <a:srgbClr val="94A3B8"/>
                </a:solidFill>
              </a:defRPr>
            </a:pPr>
            <a:r>
              <a:t>•  Sample Weighting (w=0.5): Data berlabel asli (w=1.0) tetap dominan; derau pseudo-label diredam.</a:t>
            </a:r>
          </a:p>
          <a:p>
            <a:pPr>
              <a:spcAft>
                <a:spcPts val="600"/>
              </a:spcAft>
              <a:defRPr sz="1200">
                <a:solidFill>
                  <a:srgbClr val="94A3B8"/>
                </a:solidFill>
              </a:defRPr>
            </a:pPr>
            <a:r>
              <a:t>•  Leakage-Free CV: Validation fold tidak pernah terpapar pseudo-labeling.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0EA58A"/>
                </a:solidFill>
              </a:defRPr>
            </a:pPr>
            <a:r>
              <a:t>SLIDE 4/5 | FINAL GEMASTIK - PENAMBANGAN DATA</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Hasil Komparasi Kuantitatif, Diagnostik Pseudo-Label, &amp; Keterbatasan</a:t>
            </a:r>
          </a:p>
          <a:p>
            <a:pPr>
              <a:defRPr sz="1300">
                <a:solidFill>
                  <a:srgbClr val="94A3B8"/>
                </a:solidFill>
              </a:defRPr>
            </a:pPr>
            <a:r>
              <a:t>Evaluasi Bebas Kebocoran Data pada Stratified 5-Fold Cross-Validation (Seed 42)</a:t>
            </a:r>
          </a:p>
        </p:txBody>
      </p:sp>
      <p:sp>
        <p:nvSpPr>
          <p:cNvPr id="5" name="Rounded Rectangle 4"/>
          <p:cNvSpPr/>
          <p:nvPr/>
        </p:nvSpPr>
        <p:spPr>
          <a:xfrm>
            <a:off x="7315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3383280" cy="731520"/>
          </a:xfrm>
          <a:prstGeom prst="rect">
            <a:avLst/>
          </a:prstGeom>
          <a:noFill/>
        </p:spPr>
        <p:txBody>
          <a:bodyPr wrap="square">
            <a:spAutoFit/>
          </a:bodyPr>
          <a:lstStyle/>
          <a:p>
            <a:pPr algn="ctr">
              <a:defRPr sz="2200" b="1">
                <a:solidFill>
                  <a:srgbClr val="F59E0B"/>
                </a:solidFill>
              </a:defRPr>
            </a:pPr>
            <a:r>
              <a:t>0.5895 ± 0.086</a:t>
            </a:r>
          </a:p>
          <a:p>
            <a:pPr algn="ctr">
              <a:defRPr sz="1100">
                <a:solidFill>
                  <a:srgbClr val="94A3B8"/>
                </a:solidFill>
              </a:defRPr>
            </a:pPr>
            <a:r>
              <a:t>Baseline Supervised Murni</a:t>
            </a:r>
          </a:p>
        </p:txBody>
      </p:sp>
      <p:sp>
        <p:nvSpPr>
          <p:cNvPr id="7" name="Rounded Rectangle 6"/>
          <p:cNvSpPr/>
          <p:nvPr/>
        </p:nvSpPr>
        <p:spPr>
          <a:xfrm>
            <a:off x="43891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645920"/>
            <a:ext cx="3383280" cy="731520"/>
          </a:xfrm>
          <a:prstGeom prst="rect">
            <a:avLst/>
          </a:prstGeom>
          <a:noFill/>
        </p:spPr>
        <p:txBody>
          <a:bodyPr wrap="square">
            <a:spAutoFit/>
          </a:bodyPr>
          <a:lstStyle/>
          <a:p>
            <a:pPr algn="ctr">
              <a:defRPr sz="2200" b="1">
                <a:solidFill>
                  <a:srgbClr val="0EA58A"/>
                </a:solidFill>
              </a:defRPr>
            </a:pPr>
            <a:r>
              <a:t>0.7426 ± 0.049</a:t>
            </a:r>
          </a:p>
          <a:p>
            <a:pPr algn="ctr">
              <a:defRPr sz="1100">
                <a:solidFill>
                  <a:srgbClr val="94A3B8"/>
                </a:solidFill>
              </a:defRPr>
            </a:pPr>
            <a:r>
              <a:t>CB-PL Semi-Supervised Terbaik</a:t>
            </a:r>
          </a:p>
        </p:txBody>
      </p:sp>
      <p:sp>
        <p:nvSpPr>
          <p:cNvPr id="9" name="Rounded Rectangle 8"/>
          <p:cNvSpPr/>
          <p:nvPr/>
        </p:nvSpPr>
        <p:spPr>
          <a:xfrm>
            <a:off x="80467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645920"/>
            <a:ext cx="3383280" cy="731520"/>
          </a:xfrm>
          <a:prstGeom prst="rect">
            <a:avLst/>
          </a:prstGeom>
          <a:noFill/>
        </p:spPr>
        <p:txBody>
          <a:bodyPr wrap="square">
            <a:spAutoFit/>
          </a:bodyPr>
          <a:lstStyle/>
          <a:p>
            <a:pPr algn="ctr">
              <a:defRPr sz="2200" b="1">
                <a:solidFill>
                  <a:srgbClr val="0EA58A"/>
                </a:solidFill>
              </a:defRPr>
            </a:pPr>
            <a:r>
              <a:t>+15.31%</a:t>
            </a:r>
          </a:p>
          <a:p>
            <a:pPr algn="ctr">
              <a:defRPr sz="1100">
                <a:solidFill>
                  <a:srgbClr val="94A3B8"/>
                </a:solidFill>
              </a:defRPr>
            </a:pPr>
            <a:r>
              <a:t>Peningkatan Macro-F1 Absolut</a:t>
            </a:r>
          </a:p>
        </p:txBody>
      </p:sp>
      <p:sp>
        <p:nvSpPr>
          <p:cNvPr id="11" name="Rounded Rectangle 10"/>
          <p:cNvSpPr/>
          <p:nvPr/>
        </p:nvSpPr>
        <p:spPr>
          <a:xfrm>
            <a:off x="731520" y="2651760"/>
            <a:ext cx="5212080" cy="3749039"/>
          </a:xfrm>
          <a:prstGeom prst="roundRect">
            <a:avLst/>
          </a:prstGeom>
          <a:solidFill>
            <a:srgbClr val="1E293B"/>
          </a:solidFill>
          <a:ln w="19050">
            <a:solidFill>
              <a:srgbClr val="0EA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88920"/>
            <a:ext cx="4846320" cy="3474720"/>
          </a:xfrm>
          <a:prstGeom prst="rect">
            <a:avLst/>
          </a:prstGeom>
          <a:noFill/>
        </p:spPr>
        <p:txBody>
          <a:bodyPr wrap="square">
            <a:spAutoFit/>
          </a:bodyPr>
          <a:lstStyle/>
          <a:p>
            <a:pPr>
              <a:spcAft>
                <a:spcPts val="800"/>
              </a:spcAft>
              <a:defRPr sz="1500" b="1">
                <a:solidFill>
                  <a:srgbClr val="0EA58A"/>
                </a:solidFill>
              </a:defRPr>
            </a:pPr>
            <a:r>
              <a:t>Tabel Komparasi Macro-F1 (5-Fold CV)</a:t>
            </a:r>
          </a:p>
          <a:p>
            <a:pPr>
              <a:spcAft>
                <a:spcPts val="600"/>
              </a:spcAft>
              <a:defRPr sz="1200">
                <a:solidFill>
                  <a:srgbClr val="94A3B8"/>
                </a:solidFill>
              </a:defRPr>
            </a:pPr>
            <a:r>
              <a:t>•  Baseline Logistic Regression: Macro-F1 = 0.5895 (±0.086)</a:t>
            </a:r>
          </a:p>
          <a:p>
            <a:pPr>
              <a:spcAft>
                <a:spcPts val="600"/>
              </a:spcAft>
              <a:defRPr sz="1200">
                <a:solidFill>
                  <a:srgbClr val="94A3B8"/>
                </a:solidFill>
              </a:defRPr>
            </a:pPr>
            <a:r>
              <a:t>•  Baseline Calibrated LinearSVC: Macro-F1 = 0.6452 (±0.059)</a:t>
            </a:r>
          </a:p>
          <a:p>
            <a:pPr>
              <a:spcAft>
                <a:spcPts val="600"/>
              </a:spcAft>
              <a:defRPr sz="1200">
                <a:solidFill>
                  <a:srgbClr val="94A3B8"/>
                </a:solidFill>
              </a:defRPr>
            </a:pPr>
            <a:r>
              <a:t>•  Self-Training Naif (Global Threshold): Gagal total pada netral (0% netral, F1 netral anjlok)</a:t>
            </a:r>
          </a:p>
          <a:p>
            <a:pPr>
              <a:spcAft>
                <a:spcPts val="600"/>
              </a:spcAft>
              <a:defRPr sz="1200">
                <a:solidFill>
                  <a:srgbClr val="94A3B8"/>
                </a:solidFill>
              </a:defRPr>
            </a:pPr>
            <a:r>
              <a:t>•  CB-PL (Top-20 / kelas): Macro-F1 = 0.6429 (+5.34%)</a:t>
            </a:r>
          </a:p>
          <a:p>
            <a:pPr>
              <a:spcAft>
                <a:spcPts val="600"/>
              </a:spcAft>
              <a:defRPr sz="1200">
                <a:solidFill>
                  <a:srgbClr val="94A3B8"/>
                </a:solidFill>
              </a:defRPr>
            </a:pPr>
            <a:r>
              <a:t>•  CB-PL (Top-60 / kelas): Macro-F1 = 0.6929 (+10.34%)</a:t>
            </a:r>
          </a:p>
          <a:p>
            <a:pPr>
              <a:spcAft>
                <a:spcPts val="600"/>
              </a:spcAft>
              <a:defRPr sz="1200">
                <a:solidFill>
                  <a:srgbClr val="94A3B8"/>
                </a:solidFill>
              </a:defRPr>
            </a:pPr>
            <a:r>
              <a:t>•  CB-PL (Top-100 / kelas): Macro-F1 = 0.7426 (+15.31% lonjakan konsisten di 5/5 fold!)</a:t>
            </a:r>
          </a:p>
        </p:txBody>
      </p:sp>
      <p:sp>
        <p:nvSpPr>
          <p:cNvPr id="13" name="Rounded Rectangle 12"/>
          <p:cNvSpPr/>
          <p:nvPr/>
        </p:nvSpPr>
        <p:spPr>
          <a:xfrm>
            <a:off x="6217920" y="2651760"/>
            <a:ext cx="5212080" cy="3749039"/>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788920"/>
            <a:ext cx="4846320" cy="3474720"/>
          </a:xfrm>
          <a:prstGeom prst="rect">
            <a:avLst/>
          </a:prstGeom>
          <a:noFill/>
        </p:spPr>
        <p:txBody>
          <a:bodyPr wrap="square">
            <a:spAutoFit/>
          </a:bodyPr>
          <a:lstStyle/>
          <a:p>
            <a:pPr>
              <a:spcAft>
                <a:spcPts val="800"/>
              </a:spcAft>
              <a:defRPr sz="1500" b="1">
                <a:solidFill>
                  <a:srgbClr val="3B82F6"/>
                </a:solidFill>
              </a:defRPr>
            </a:pPr>
            <a:r>
              <a:t>Diagnostik Pseudo-Label &amp; Keterbatasan</a:t>
            </a:r>
          </a:p>
          <a:p>
            <a:pPr>
              <a:spcAft>
                <a:spcPts val="600"/>
              </a:spcAft>
              <a:defRPr sz="1200">
                <a:solidFill>
                  <a:srgbClr val="94A3B8"/>
                </a:solidFill>
              </a:defRPr>
            </a:pPr>
            <a:r>
              <a:t>•  Audit Bias Konfirmasi: Self-training naif menghasilkan &gt;98% pseudo-label positif. Sebaliknya, CB-PL menjamin 100 sampel netral disuntikkan secara proporsional.</a:t>
            </a:r>
          </a:p>
          <a:p>
            <a:pPr>
              <a:spcAft>
                <a:spcPts val="600"/>
              </a:spcAft>
              <a:defRPr sz="1200">
                <a:solidFill>
                  <a:srgbClr val="94A3B8"/>
                </a:solidFill>
              </a:defRPr>
            </a:pPr>
            <a:r>
              <a:t>•  Kualitas Pseudo-Label: Rata-rata confidence pada top-100 mencapai 0.82, memberikan perluasan boundary yang presisi.</a:t>
            </a:r>
          </a:p>
          <a:p>
            <a:pPr>
              <a:spcAft>
                <a:spcPts val="600"/>
              </a:spcAft>
              <a:defRPr sz="1200">
                <a:solidFill>
                  <a:srgbClr val="94A3B8"/>
                </a:solidFill>
              </a:defRPr>
            </a:pPr>
            <a:r>
              <a:t>•  Keterbatasan Nyata (Kejujuran Ilmiah): Ulasan sarkastik dan opini politik majemuk tetap berisiko membawa label noise jika kuota dipaksakan terlalu besar (&gt;200/kelas).</a:t>
            </a:r>
          </a:p>
          <a:p>
            <a:pPr>
              <a:spcAft>
                <a:spcPts val="600"/>
              </a:spcAft>
              <a:defRPr sz="1200">
                <a:solidFill>
                  <a:srgbClr val="94A3B8"/>
                </a:solidFill>
              </a:defRPr>
            </a:pPr>
            <a:r>
              <a:t>•  Verifikasi Submission: File submission.csv (1.246 baris) 100% lolos uji check_submission.py [OK].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a:spAutoFit/>
          </a:bodyPr>
          <a:lstStyle/>
          <a:p>
            <a:pPr>
              <a:defRPr sz="1100" b="1">
                <a:solidFill>
                  <a:srgbClr val="0EA58A"/>
                </a:solidFill>
              </a:defRPr>
            </a:pPr>
            <a:r>
              <a:t>SLIDE 5/5 | FINAL GEMASTIK - PENAMBANGAN DATA</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F8FAFC"/>
                </a:solidFill>
              </a:defRPr>
            </a:pPr>
            <a:r>
              <a:t>Rekomendasi Bisnis &amp; Alokasi Anggaran 300 Label Tambahan</a:t>
            </a:r>
          </a:p>
          <a:p>
            <a:pPr>
              <a:defRPr sz="1300">
                <a:solidFill>
                  <a:srgbClr val="94A3B8"/>
                </a:solidFill>
              </a:defRPr>
            </a:pPr>
            <a:r>
              <a:t>Strategi Active Learning Cerdas Menjawab Pertanyaan Dewan Juri</a:t>
            </a:r>
          </a:p>
        </p:txBody>
      </p:sp>
      <p:sp>
        <p:nvSpPr>
          <p:cNvPr id="5" name="Rounded Rectangle 4"/>
          <p:cNvSpPr/>
          <p:nvPr/>
        </p:nvSpPr>
        <p:spPr>
          <a:xfrm>
            <a:off x="7315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45920"/>
            <a:ext cx="3383280" cy="731520"/>
          </a:xfrm>
          <a:prstGeom prst="rect">
            <a:avLst/>
          </a:prstGeom>
          <a:noFill/>
        </p:spPr>
        <p:txBody>
          <a:bodyPr wrap="square">
            <a:spAutoFit/>
          </a:bodyPr>
          <a:lstStyle/>
          <a:p>
            <a:pPr algn="ctr">
              <a:defRPr sz="2200" b="1">
                <a:solidFill>
                  <a:srgbClr val="0EA58A"/>
                </a:solidFill>
              </a:defRPr>
            </a:pPr>
            <a:r>
              <a:t>Active Learning</a:t>
            </a:r>
          </a:p>
          <a:p>
            <a:pPr algn="ctr">
              <a:defRPr sz="1100">
                <a:solidFill>
                  <a:srgbClr val="94A3B8"/>
                </a:solidFill>
              </a:defRPr>
            </a:pPr>
            <a:r>
              <a:t>Strategi Sampling 300 Label Baru</a:t>
            </a:r>
          </a:p>
        </p:txBody>
      </p:sp>
      <p:sp>
        <p:nvSpPr>
          <p:cNvPr id="7" name="Rounded Rectangle 6"/>
          <p:cNvSpPr/>
          <p:nvPr/>
        </p:nvSpPr>
        <p:spPr>
          <a:xfrm>
            <a:off x="43891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1645920"/>
            <a:ext cx="3383280" cy="731520"/>
          </a:xfrm>
          <a:prstGeom prst="rect">
            <a:avLst/>
          </a:prstGeom>
          <a:noFill/>
        </p:spPr>
        <p:txBody>
          <a:bodyPr wrap="square">
            <a:spAutoFit/>
          </a:bodyPr>
          <a:lstStyle/>
          <a:p>
            <a:pPr algn="ctr">
              <a:defRPr sz="2200" b="1">
                <a:solidFill>
                  <a:srgbClr val="3B82F6"/>
                </a:solidFill>
              </a:defRPr>
            </a:pPr>
            <a:r>
              <a:t>Uncertainty + Diversity</a:t>
            </a:r>
          </a:p>
          <a:p>
            <a:pPr algn="ctr">
              <a:defRPr sz="1100">
                <a:solidFill>
                  <a:srgbClr val="94A3B8"/>
                </a:solidFill>
              </a:defRPr>
            </a:pPr>
            <a:r>
              <a:t>Kombinasi Margin &amp; K-Means</a:t>
            </a:r>
          </a:p>
        </p:txBody>
      </p:sp>
      <p:sp>
        <p:nvSpPr>
          <p:cNvPr id="9" name="Rounded Rectangle 8"/>
          <p:cNvSpPr/>
          <p:nvPr/>
        </p:nvSpPr>
        <p:spPr>
          <a:xfrm>
            <a:off x="8046720" y="1554480"/>
            <a:ext cx="3383280" cy="914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645920"/>
            <a:ext cx="3383280" cy="731520"/>
          </a:xfrm>
          <a:prstGeom prst="rect">
            <a:avLst/>
          </a:prstGeom>
          <a:noFill/>
        </p:spPr>
        <p:txBody>
          <a:bodyPr wrap="square">
            <a:spAutoFit/>
          </a:bodyPr>
          <a:lstStyle/>
          <a:p>
            <a:pPr algn="ctr">
              <a:defRPr sz="2200" b="1">
                <a:solidFill>
                  <a:srgbClr val="F59E0B"/>
                </a:solidFill>
              </a:defRPr>
            </a:pPr>
            <a:r>
              <a:t>Cost Efficiency</a:t>
            </a:r>
          </a:p>
          <a:p>
            <a:pPr algn="ctr">
              <a:defRPr sz="1100">
                <a:solidFill>
                  <a:srgbClr val="94A3B8"/>
                </a:solidFill>
              </a:defRPr>
            </a:pPr>
            <a:r>
              <a:t>ROI Anotasi Maksimal (SDG 8 &amp; 9)</a:t>
            </a:r>
          </a:p>
        </p:txBody>
      </p:sp>
      <p:sp>
        <p:nvSpPr>
          <p:cNvPr id="11" name="Rounded Rectangle 10"/>
          <p:cNvSpPr/>
          <p:nvPr/>
        </p:nvSpPr>
        <p:spPr>
          <a:xfrm>
            <a:off x="731520" y="2651760"/>
            <a:ext cx="5212080" cy="3749039"/>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788920"/>
            <a:ext cx="4846320" cy="3474720"/>
          </a:xfrm>
          <a:prstGeom prst="rect">
            <a:avLst/>
          </a:prstGeom>
          <a:noFill/>
        </p:spPr>
        <p:txBody>
          <a:bodyPr wrap="square">
            <a:spAutoFit/>
          </a:bodyPr>
          <a:lstStyle/>
          <a:p>
            <a:pPr>
              <a:spcAft>
                <a:spcPts val="800"/>
              </a:spcAft>
              <a:defRPr sz="1500" b="1">
                <a:solidFill>
                  <a:srgbClr val="F59E0B"/>
                </a:solidFill>
              </a:defRPr>
            </a:pPr>
            <a:r>
              <a:t>Rekomendasi Implementasi Bisnis</a:t>
            </a:r>
          </a:p>
          <a:p>
            <a:pPr>
              <a:spcAft>
                <a:spcPts val="600"/>
              </a:spcAft>
              <a:defRPr sz="1200">
                <a:solidFill>
                  <a:srgbClr val="94A3B8"/>
                </a:solidFill>
              </a:defRPr>
            </a:pPr>
            <a:r>
              <a:t>•  Pemanfaatan Data Tanpa Label: Terbukti secara empiris meningkatkan performa model sebesar +15.3% tanpa biaya anotasi tambahan.</a:t>
            </a:r>
          </a:p>
          <a:p>
            <a:pPr>
              <a:spcAft>
                <a:spcPts val="600"/>
              </a:spcAft>
              <a:defRPr sz="1200">
                <a:solidFill>
                  <a:srgbClr val="94A3B8"/>
                </a:solidFill>
              </a:defRPr>
            </a:pPr>
            <a:r>
              <a:t>•  Human-in-the-Loop Pipeline: Gunakan model CB-PL untuk memproses ulasan otomatis dengan keyakinan tinggi; alokasikan tenaga manusia hanya untuk ulasan ambigu.</a:t>
            </a:r>
          </a:p>
          <a:p>
            <a:pPr>
              <a:spcAft>
                <a:spcPts val="600"/>
              </a:spcAft>
              <a:defRPr sz="1200">
                <a:solidFill>
                  <a:srgbClr val="94A3B8"/>
                </a:solidFill>
              </a:defRPr>
            </a:pPr>
            <a:r>
              <a:t>•  Monitoring Semantic Drift: Lakukan pemantauan berkala terhadap distribusi prediksi produksi agar model tetap adaptif terhadap tren slang baru.</a:t>
            </a:r>
          </a:p>
        </p:txBody>
      </p:sp>
      <p:sp>
        <p:nvSpPr>
          <p:cNvPr id="13" name="Rounded Rectangle 12"/>
          <p:cNvSpPr/>
          <p:nvPr/>
        </p:nvSpPr>
        <p:spPr>
          <a:xfrm>
            <a:off x="6217920" y="2651760"/>
            <a:ext cx="5212080" cy="3749039"/>
          </a:xfrm>
          <a:prstGeom prst="roundRect">
            <a:avLst/>
          </a:prstGeom>
          <a:solidFill>
            <a:srgbClr val="1E293B"/>
          </a:solidFill>
          <a:ln w="19050">
            <a:solidFill>
              <a:srgbClr val="0EA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788920"/>
            <a:ext cx="4846320" cy="3474720"/>
          </a:xfrm>
          <a:prstGeom prst="rect">
            <a:avLst/>
          </a:prstGeom>
          <a:noFill/>
        </p:spPr>
        <p:txBody>
          <a:bodyPr wrap="square">
            <a:spAutoFit/>
          </a:bodyPr>
          <a:lstStyle/>
          <a:p>
            <a:pPr>
              <a:spcAft>
                <a:spcPts val="800"/>
              </a:spcAft>
              <a:defRPr sz="1500" b="1">
                <a:solidFill>
                  <a:srgbClr val="0EA58A"/>
                </a:solidFill>
              </a:defRPr>
            </a:pPr>
            <a:r>
              <a:t>Alokasi 300 Label Baru (Active Learning)</a:t>
            </a:r>
          </a:p>
          <a:p>
            <a:pPr>
              <a:spcAft>
                <a:spcPts val="600"/>
              </a:spcAft>
              <a:defRPr sz="1200">
                <a:solidFill>
                  <a:srgbClr val="94A3B8"/>
                </a:solidFill>
              </a:defRPr>
            </a:pPr>
            <a:r>
              <a:t>•  1. Uncertainty / Margin Sampling (150 sampel): Pilih ulasan dengan entropi prediksi tertinggi (margin keputusan antara negatif vs netral) untuk memberikan Information Gain maksimal.</a:t>
            </a:r>
          </a:p>
          <a:p>
            <a:pPr>
              <a:spcAft>
                <a:spcPts val="600"/>
              </a:spcAft>
              <a:defRPr sz="1200">
                <a:solidFill>
                  <a:srgbClr val="94A3B8"/>
                </a:solidFill>
              </a:defRPr>
            </a:pPr>
            <a:r>
              <a:t>•  2. Minority-Class Boosting (100 sampel): Prioritaskan ulasan yang diduga kuat kelas Neutral guna menyeimbangkan ketimpangan kelas yang saat ini hanya 31 sampel.</a:t>
            </a:r>
          </a:p>
          <a:p>
            <a:pPr>
              <a:spcAft>
                <a:spcPts val="600"/>
              </a:spcAft>
              <a:defRPr sz="1200">
                <a:solidFill>
                  <a:srgbClr val="94A3B8"/>
                </a:solidFill>
              </a:defRPr>
            </a:pPr>
            <a:r>
              <a:t>•  3. Diversity Sampling (50 sampel): Terapkan K-Means clustering pada embedding TF-IDF data tanpa label untuk menjaring topik/domain baru di luar korpus 300 awal.</a:t>
            </a:r>
          </a:p>
          <a:p>
            <a:pPr>
              <a:spcAft>
                <a:spcPts val="600"/>
              </a:spcAft>
              <a:defRPr sz="1200">
                <a:solidFill>
                  <a:srgbClr val="94A3B8"/>
                </a:solidFill>
              </a:defRPr>
            </a:pPr>
            <a:r>
              <a:t>•  Kesimpulan: Anggaran baru tidak dihamburkan untuk random sampling, melainkan dialokasikan secara presisi tinggi.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